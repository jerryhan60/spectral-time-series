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560320"/>
            <a:ext cx="10362895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Spectral Methods for Time Series</a:t>
            </a:r>
            <a:br/>
            <a:r>
              <a:t>Foundation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B4D8"/>
                </a:solidFill>
                <a:latin typeface="Calibri"/>
              </a:defRPr>
            </a:pPr>
            <a:r>
              <a:t>Universal Sequence Preconditioning &amp; Spectral Transform Units for Zero-Shot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Jerry Han  ·  Alex Kawaja  ·  Benjamin Cole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Princeton University  ·  Prof. Elad Hazan's Group  · 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Platform: MOIRAI Foundation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Can spectral methods improve zero-shot time series foundation models?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>
                <a:solidFill>
                  <a:srgbClr val="CCCCCC"/>
                </a:solidFill>
                <a:latin typeface="Calibri"/>
              </a:rPr>
              <a:t>•  Pre-trained on LOTSA: 27B observations, 9 domains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>
                <a:solidFill>
                  <a:srgbClr val="CCCCCC"/>
                </a:solidFill>
                <a:latin typeface="Calibri"/>
              </a:rPr>
              <a:t>•  Zero-shot forecasting on unseen datasets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>
                <a:solidFill>
                  <a:srgbClr val="CCCCCC"/>
                </a:solidFill>
                <a:latin typeface="Calibri"/>
              </a:rPr>
              <a:t>•  MOIRAI 1.0: masked encoder, 14M params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>
                <a:solidFill>
                  <a:srgbClr val="CCCCCC"/>
                </a:solidFill>
                <a:latin typeface="Calibri"/>
              </a:rPr>
              <a:t>•  MOIRAI 2.0: causal decoder, 11.4M params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Evaluation: GIFT-Eval Benchmark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>
                <a:solidFill>
                  <a:srgbClr val="CCCCCC"/>
                </a:solidFill>
                <a:latin typeface="Calibri"/>
              </a:rPr>
              <a:t>•  97 dataset configs × 3 horizons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>
                <a:solidFill>
                  <a:srgbClr val="CCCCCC"/>
                </a:solidFill>
                <a:latin typeface="Calibri"/>
              </a:rPr>
              <a:t>•  Energy, weather, transport, health, sales, cloud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>
                <a:solidFill>
                  <a:srgbClr val="CCCCCC"/>
                </a:solidFill>
                <a:latin typeface="Calibri"/>
              </a:rPr>
              <a:t>•  Metric: MASE normalized by seasonal naive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>
                <a:solidFill>
                  <a:srgbClr val="CCCCCC"/>
                </a:solidFill>
                <a:latin typeface="Calibri"/>
              </a:rPr>
              <a:t>•  Normalized MASE &lt; 1.0 = beats naive baseline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029200" cy="1645920"/>
          </a:xfrm>
          <a:prstGeom prst="roundRect">
            <a:avLst/>
          </a:prstGeom>
          <a:solidFill>
            <a:srgbClr val="1E3A5F"/>
          </a:solidFill>
          <a:ln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B4D8"/>
                </a:solidFill>
                <a:latin typeface="Calibri"/>
              </a:defRPr>
            </a:pPr>
            <a:r>
              <a:t>Approach 1: Replace Attention with STU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634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FFT-based spectral mixing: O(n log n) vs O(n²)</a:t>
            </a:r>
            <a:br/>
            <a:r>
              <a:t>Alternate STU + Attention layers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114800"/>
            <a:ext cx="5029200" cy="1645920"/>
          </a:xfrm>
          <a:prstGeom prst="roundRect">
            <a:avLst/>
          </a:prstGeom>
          <a:solidFill>
            <a:srgbClr val="1E3A5F"/>
          </a:solidFill>
          <a:ln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42062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B4D8"/>
                </a:solidFill>
                <a:latin typeface="Calibri"/>
              </a:defRPr>
            </a:pPr>
            <a:r>
              <a:t>Approach 2: Polynomial Preconditioning (USP)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6634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Chebyshev FIR filter on input series</a:t>
            </a:r>
            <a:br/>
            <a:r>
              <a:t>+ Learned 64-tap inverse for reversal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Approach 1: STU-MOIRAI Hybrid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Spectral Transform Units as drop-in attention replacement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onsolas"/>
              </a:defRPr>
            </a:pPr>
            <a:r>
              <a:t>Baseline:  Input → Patch Embed → [Attn + FFN] × 6 → Output Head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B4D8"/>
                </a:solidFill>
                <a:latin typeface="Consolas"/>
              </a:defRPr>
            </a:pPr>
            <a:r>
              <a:t>Hybrid:    Input → Patch Embed → [STU] [Attn] [STU] [Attn] [STU] [Attn] → Output Head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560320"/>
          <a:ext cx="6400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  <a:gridCol w="1280160"/>
              </a:tblGrid>
              <a:tr h="39188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Variant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Params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Train Loss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 attention layers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13.83M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2.380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Evaluated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Approx STU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 STU + 3 Attn (alternating)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12.53M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2.361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Evaluated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Sandwich STU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 STU(+MLP) + 3 Attn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15.65M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2.350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Evaluated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Multi-Head STU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 MH-STU(H=6) + 3 Attn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13.83M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2.534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Training (74%)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Non-Approx STU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 full-STU(K=2) + 3 Attn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13.83M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2.372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Eval running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Parallel STU+Attn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 layers: gate*attn+(1-g)*stu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13.83M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2.488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Training (84%)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training_loss_new_vari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2377440"/>
            <a:ext cx="4114800" cy="2400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STU Results: Matches Baseline, Doesn't Beat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GIFT-Eval, 97 configurations, 95% bootstrap CIs (10K resamples)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72865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8109"/>
                <a:gridCol w="1788109"/>
                <a:gridCol w="1788109"/>
                <a:gridCol w="1788109"/>
                <a:gridCol w="1788109"/>
                <a:gridCol w="1788110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Params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Geo MASE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Norm. MASE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95% CI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Beats Naive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Approx STU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12.53M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1.317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0.920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[0.850, 0.991]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37/58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Sandwich STU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15.65M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1.313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[0.854, 1.001]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37/58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13.83M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1.315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0.933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[0.864, 1.004]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37/58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3200400"/>
          <a:ext cx="731520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3352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 vs Baseline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 ΔMASE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95% CI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Wins / Losses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Approx STU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+0.009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[-0.087, +0.088]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55W / 42L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Sandwich STU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-0.002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[-0.037, +0.034]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45W / 52L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stu_loss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480560"/>
            <a:ext cx="5029200" cy="193373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17920" y="4572000"/>
            <a:ext cx="5303520" cy="1645920"/>
          </a:xfrm>
          <a:prstGeom prst="roundRect">
            <a:avLst/>
          </a:prstGeom>
          <a:solidFill>
            <a:srgbClr val="1E3A5F"/>
          </a:solidFill>
          <a:ln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466344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B4D8"/>
                </a:solidFill>
                <a:latin typeface="Calibri"/>
              </a:defRPr>
            </a:pPr>
            <a:r>
              <a:t>Takeaway: STU achieves comparable quality with 10% fewer params.</a:t>
            </a:r>
            <a:br/>
            <a:br/>
            <a:r>
              <a:t>CIs overlap completely — not significant.</a:t>
            </a:r>
            <a:br/>
            <a:br/>
            <a:r>
              <a:t>Spectral mixing alone isn't the bottleneck</a:t>
            </a:r>
            <a:br/>
            <a:r>
              <a:t>at ~30-token sequences (ctx=1000, patch=32).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Approach 2: Universal Sequence Preconditioning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Convolve time series with Chebyshev polynomial coefficients before transformer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4D8"/>
                </a:solidFill>
                <a:latin typeface="Consolas"/>
              </a:defRPr>
            </a:pPr>
            <a:r>
              <a:t>z(t) = y(t) + c₁·y(t-1) + c₂·y(t-2) + ... + c_d·y(t-d)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>
                <a:solidFill>
                  <a:srgbClr val="CCCCCC"/>
                </a:solidFill>
                <a:latin typeface="Calibri"/>
              </a:rPr>
              <a:t>•  Flattens spectral profile → easier to predict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>
                <a:solidFill>
                  <a:srgbClr val="CCCCCC"/>
                </a:solidFill>
                <a:latin typeface="Calibri"/>
              </a:rPr>
              <a:t>•  Chebyshev: minimax-optimal on [-1, 1]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>
                <a:solidFill>
                  <a:srgbClr val="CCCCCC"/>
                </a:solidFill>
                <a:latin typeface="Calibri"/>
              </a:rPr>
              <a:t>•  Higher degree = more aggressive filtering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>
                <a:solidFill>
                  <a:srgbClr val="CCCCCC"/>
                </a:solidFill>
                <a:latin typeface="Calibri"/>
              </a:rPr>
              <a:t>•  At inference: must reverse to recover original 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377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Moirai 2.0 Pipeline: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834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B4D8"/>
                </a:solidFill>
                <a:latin typeface="Consolas"/>
              </a:defRPr>
            </a:pPr>
            <a:r>
              <a:t>Series → Z-score → FIR(fixed) → Transformer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200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B4D8"/>
                </a:solidFill>
                <a:latin typeface="Consolas"/>
              </a:defRPr>
            </a:pPr>
            <a:r>
              <a:t>Loss = Quantile + 0.1×||FIR_inv(z) - y||²</a:t>
            </a:r>
          </a:p>
        </p:txBody>
      </p:sp>
      <p:pic>
        <p:nvPicPr>
          <p:cNvPr id="10" name="Picture 9" descr="exp1_training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114800"/>
            <a:ext cx="5029200" cy="1446141"/>
          </a:xfrm>
          <a:prstGeom prst="rect">
            <a:avLst/>
          </a:prstGeom>
        </p:spPr>
      </p:pic>
      <p:pic>
        <p:nvPicPr>
          <p:cNvPr id="11" name="Picture 10" descr="exp1_loss_ter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4114800"/>
            <a:ext cx="5029200" cy="37333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Reversal Problem: Exponential Error Accumulation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Moirai 1.0 on Monash Benchmark (29 datasets)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4572000" cy="457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5943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1981200"/>
                <a:gridCol w="1981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Geo Mean MAE Ratio</a:t>
                      </a:r>
                    </a:p>
                  </a:txBody>
                  <a:tcPr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Interpretation</a:t>
                      </a:r>
                    </a:p>
                  </a:txBody>
                  <a:tcPr>
                    <a:solidFill>
                      <a:srgbClr val="E74C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Baseline (no precond)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Reference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d=5, ground-truth reversal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29% better (oracle -- needs future)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d=2, model-forecast reversal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1.22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22% WORSE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d=5, model-forecast reversal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2× WORSE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Error Dynamics (LDS formulation):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8288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onsolas"/>
              </a:defRPr>
            </a:pPr>
            <a:r>
              <a:t>e_{h+1} = M·x_h + B·ε_{h+1}</a:t>
            </a:r>
            <a:br/>
            <a:r>
              <a:t>M = companion matrix, λ_i = roots of p(x)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0" y="2560320"/>
          <a:ext cx="43891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Max |p(z)|</a:t>
                      </a:r>
                    </a:p>
                  </a:txBody>
                  <a:tcPr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Noise Gain</a:t>
                      </a:r>
                    </a:p>
                  </a:txBody>
                  <a:tcPr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ρ (Spectral Radius)</a:t>
                      </a:r>
                    </a:p>
                  </a:txBody>
                  <a:tcPr>
                    <a:solidFill>
                      <a:srgbClr val="E74C3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Chebyshev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0.063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11.9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0.951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Lyapunov Reg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L2 Reg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0.291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0.882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31520" y="3474720"/>
            <a:ext cx="10728655" cy="731520"/>
          </a:xfrm>
          <a:prstGeom prst="roundRect">
            <a:avLst/>
          </a:prstGeom>
          <a:solidFill>
            <a:srgbClr val="3D1A1A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5204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74C3C"/>
                </a:solidFill>
                <a:latin typeface="Calibri"/>
              </a:defRPr>
            </a:pPr>
            <a:r>
              <a:t>Key: Chebyshev is optimal for spectral flatness but has near-unit-circle roots → 12× noise amplification.</a:t>
            </a:r>
            <a:br/>
            <a:r>
              <a:t>Regularization trades flatness for stability: noise gain 12 → 1.6 at the cost of 5× larger max|p(z)|.</a:t>
            </a:r>
          </a:p>
        </p:txBody>
      </p:sp>
      <p:pic>
        <p:nvPicPr>
          <p:cNvPr id="12" name="Picture 11" descr="chebyshev_degree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480560"/>
            <a:ext cx="5029200" cy="3143250"/>
          </a:xfrm>
          <a:prstGeom prst="rect">
            <a:avLst/>
          </a:prstGeom>
        </p:spPr>
      </p:pic>
      <p:pic>
        <p:nvPicPr>
          <p:cNvPr id="13" name="Picture 12" descr="chebyshev_degree_m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4480560"/>
            <a:ext cx="5029200" cy="21236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Moirai 2.0: Chebyshev Degree Sweep (100K steps)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GIFT-Eval 97 configs | Normalized Geo Mean MASE | Lower is better | With learned 64-tap FIR inverse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72865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2665"/>
                <a:gridCol w="1532665"/>
                <a:gridCol w="1532665"/>
                <a:gridCol w="1532665"/>
                <a:gridCol w="1532665"/>
                <a:gridCol w="1532665"/>
                <a:gridCol w="1532665"/>
              </a:tblGrid>
              <a:tr h="40005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Degree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Coefficients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Train Loss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FIR Inv Loss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Norm MASE @50K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Norm MASE @100K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Beats Naive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d=1 (control)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[0.0] (identity)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0.120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0.884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0.915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36/97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d=2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[0, -0.5]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0.101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1.245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1.268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22/97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d=3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[0, -0.75, 0]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0.101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0.186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1.432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1.450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14/97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d=4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[0, -1.0, 0, +0.125]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0.108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1.577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12/97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d=5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[0, -1.25, 0, +0.3125, 0]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0.120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0.444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1.673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1.709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11/97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d=6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[0, -1.5, 0, +0.5625, 0, -0.03]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1.789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10/97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d=7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[0, -1.75, 0, +0.875, 0, -0.11, 0]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0.159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1.065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1.994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8/97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846320"/>
            <a:ext cx="10728655" cy="1645920"/>
          </a:xfrm>
          <a:prstGeom prst="roundRect">
            <a:avLst/>
          </a:prstGeom>
          <a:solidFill>
            <a:srgbClr val="3D1A1A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E74C3C"/>
                </a:solidFill>
                <a:latin typeface="Calibri"/>
              </a:rPr>
              <a:t>•  Monotonic degradation: d=1 &lt; d=2 &lt; d=3 &lt; ... &lt; d=7. Even with learned inverse, Chebyshev hurts.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E74C3C"/>
                </a:solidFill>
                <a:latin typeface="Calibri"/>
              </a:rPr>
              <a:t>•  Lower training loss ≠ better inference. FIR inverse loss grows with degree — the inverse can't keep up.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E74C3C"/>
                </a:solidFill>
                <a:latin typeface="Calibri"/>
              </a:rPr>
              <a:t>•  d=1 (identity) is best — advantage over orig. baseline was anomaly rejection (zscore=8.0), not filtering.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E74C3C"/>
                </a:solidFill>
                <a:latin typeface="Calibri"/>
              </a:rPr>
              <a:t>•  Models slightly degrade from 50K→60K steps. Possible overfitting, or 50K already near-optimal.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Path Forward: Regularized USP + Learned Inverse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45720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B4D8"/>
                </a:solidFill>
                <a:latin typeface="Calibri"/>
              </a:defRPr>
            </a:pPr>
            <a:r>
              <a:t>Keep coefficients small enough that reversal errors stay bounded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Optimization: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ECC71"/>
                </a:solidFill>
                <a:latin typeface="Consolas"/>
              </a:defRPr>
            </a:pPr>
            <a:r>
              <a:t>min_c ( max_{|z|≤1} |p(z)| + λ·||c||² 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>
                <a:solidFill>
                  <a:srgbClr val="CCCCCC"/>
                </a:solidFill>
                <a:latin typeface="Calibri"/>
              </a:rPr>
              <a:t>•  Term 1: spectral flatness (learnability)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>
                <a:solidFill>
                  <a:srgbClr val="CCCCCC"/>
                </a:solidFill>
                <a:latin typeface="Calibri"/>
              </a:rPr>
              <a:t>•  Term 2: coefficient energy (stability)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>
                <a:solidFill>
                  <a:srgbClr val="CCCCCC"/>
                </a:solidFill>
                <a:latin typeface="Calibri"/>
              </a:rPr>
              <a:t>•  λ=0 → Chebyshev (noise gain=12)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>
                <a:solidFill>
                  <a:srgbClr val="CCCCCC"/>
                </a:solidFill>
                <a:latin typeface="Calibri"/>
              </a:rPr>
              <a:t>•  λ→∞ → identity (no preconditioning)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Normalized MASE across training: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2103120"/>
          <a:ext cx="50292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/>
                <a:gridCol w="1257300"/>
                <a:gridCol w="1257300"/>
                <a:gridCol w="1257300"/>
              </a:tblGrid>
              <a:tr h="3505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Reg. USP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-10.4%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-11.7%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60K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-7.5%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100K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-8.5%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1520" y="4206240"/>
            <a:ext cx="10728655" cy="1371600"/>
          </a:xfrm>
          <a:prstGeom prst="roundRect">
            <a:avLst/>
          </a:prstGeom>
          <a:solidFill>
            <a:srgbClr val="0D2E1A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297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CC71"/>
                </a:solidFill>
                <a:latin typeface="Calibri"/>
              </a:defRPr>
            </a:pPr>
            <a:r>
              <a:t>~8-10% improvement in normalized MASE, sustained throughout training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Coefficients: [0, -0.118, 0, -0.136]  |  max|c| = 0.14  |  Noise gain ≈ 1.5 (vs Chebyshev's 12)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76072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Regularization sweep (7 λ values) running now → finishing overnight. Will map the full tradeoff curve.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Active Experiments (Finishing Tonight)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Regularization sweep: mapping the learnability–stability tradeoff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72865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8109"/>
                <a:gridCol w="1788109"/>
                <a:gridCol w="1788109"/>
                <a:gridCol w="1788109"/>
                <a:gridCol w="1788109"/>
                <a:gridCol w="1788110"/>
              </a:tblGrid>
              <a:tr h="3556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λ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Coefficients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max|c|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Noise Gain (est.)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ETA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 (Cheb)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[0, -1.0, 0, +0.125]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~12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[0, -0.706, 0, -0.085]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~2:30 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[0, -0.507, 0, -0.214]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0.507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~3:00 AM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[0, -0.377, 0, -0.294]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~2:45 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[0, -0.250, 0, -0.250]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0.250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~2:55 AM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[0, -0.167, 0, -0.167]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0.167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~1.7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~3:05 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[0, -0.050, 0, -0.050]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0.050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~1.1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36%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~2:25 AM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Custom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[0, -0.118, 0, -0.136]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0.136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~1.5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~1:45 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029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99999"/>
                </a:solidFill>
                <a:latin typeface="Calibri"/>
              </a:defRPr>
            </a:pPr>
            <a:r>
              <a:t>Also running: Non-Approx STU eval (job 4620192), Multi-Head STU (74%), Parallel STU (84%)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B4D8"/>
                </a:solidFill>
                <a:latin typeface="Calibri"/>
              </a:defRPr>
            </a:pPr>
            <a:r>
              <a:t>Hypothesis: moderate λ (0.5–2.0) will outperform both extremes — enough filtering to help, small enough to reverse.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029200" cy="2194560"/>
          </a:xfrm>
          <a:prstGeom prst="roundRect">
            <a:avLst/>
          </a:prstGeom>
          <a:solidFill>
            <a:srgbClr val="1E3A5F"/>
          </a:solidFill>
          <a:ln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Calibri"/>
              </a:defRPr>
            </a:pPr>
            <a:r>
              <a:t>1. STU ≈ Attention for Time Series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Matches attention with 10% fewer params but doesn't beat it. At ~30 tokens, O(n log n) advantage is negligible. May matter at longer contexts or larger scale.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188720"/>
            <a:ext cx="5029200" cy="2194560"/>
          </a:xfrm>
          <a:prstGeom prst="roundRect">
            <a:avLst/>
          </a:prstGeom>
          <a:solidFill>
            <a:srgbClr val="3D1A1A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2801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Calibri"/>
              </a:defRPr>
            </a:pPr>
            <a:r>
              <a:t>2. Preconditioning: Learnability vs Reversibility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73736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Chebyshev improves training, destroys inference. Errors compound exponentially through polynomial reversal. Formalized via LDS/Lyapunov. Fundamental tension.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57600"/>
            <a:ext cx="5029200" cy="2194560"/>
          </a:xfrm>
          <a:prstGeom prst="roundRect">
            <a:avLst/>
          </a:prstGeom>
          <a:solidFill>
            <a:srgbClr val="0D2E1A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49039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Calibri"/>
              </a:defRPr>
            </a:pPr>
            <a:r>
              <a:t>3. Regularized USP Is Promising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Small coefficients (max|c| &lt; 0.2) + learned 64-tap inverse: 8-10% improvement. Noise gain 12× → 1.5×. Sweep running to find optimal 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657600"/>
            <a:ext cx="5029200" cy="2194560"/>
          </a:xfrm>
          <a:prstGeom prst="roundRect">
            <a:avLst/>
          </a:prstGeom>
          <a:solidFill>
            <a:srgbClr val="2E2E0D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749039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Calibri"/>
              </a:defRPr>
            </a:pPr>
            <a:r>
              <a:t>4. Anomaly Rejection &gt; Spectral Methods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20624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Z-score thresholding at 8.0 on training data was the single largest gain. Was a confound in early experiments. Simple data quality beats fancy architecture.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solidFill>
                  <a:srgbClr val="CCCCCC"/>
                </a:solidFill>
                <a:latin typeface="Calibri"/>
              </a:rPr>
              <a:t>•  Complete regularization sweep → find optimal λ for the learnability–stability tradeoff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solidFill>
                  <a:srgbClr val="CCCCCC"/>
                </a:solidFill>
                <a:latin typeface="Calibri"/>
              </a:rPr>
              <a:t>•  Learnable coefficients: make filter taps nn.Parameter, train end-to-end (code implemented)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solidFill>
                  <a:srgbClr val="CCCCCC"/>
                </a:solidFill>
                <a:latin typeface="Calibri"/>
              </a:rPr>
              <a:t>•  Scale to MOIRAI-base (91M params, 12 layers) — differences often emerge at scale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solidFill>
                  <a:srgbClr val="CCCCCC"/>
                </a:solidFill>
                <a:latin typeface="Calibri"/>
              </a:rPr>
              <a:t>•  Longer context (4000+ tokens) where STU's O(n log n) advantage becomes meaningful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solidFill>
                  <a:srgbClr val="CCCCCC"/>
                </a:solidFill>
                <a:latin typeface="Calibri"/>
              </a:rPr>
              <a:t>•  Finite-horizon coefficient engineering — Lyapunov assumes ∞ horizon; real forecasts are bounded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solidFill>
                  <a:srgbClr val="CCCCCC"/>
                </a:solidFill>
                <a:latin typeface="Calibri"/>
              </a:rPr>
              <a:t>•  Connect theoretical quantities (max|p(z)|, noise gain, ρ) directly to forecasting loss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Appendix</a:t>
            </a:r>
            <a:br/>
            <a:r>
              <a:t>Technical Details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3840480"/>
            <a:ext cx="4876495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9999"/>
                </a:solidFill>
                <a:latin typeface="Calibri"/>
              </a:defRPr>
            </a:pPr>
            <a:r>
              <a:t>Hidden slides with full implementation and result details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[Appendix] MOIRAI 1.0 vs 2.0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415636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Moirai 1.0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Moirai 2.0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Masked encoder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Decoder-only autoregressive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Patch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Multi-patch (8, 16, 32, 64, 128)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Single patch (16)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Output head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Mixture dist. (Student-t, NB, LogNorm)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Quantile prediction (9 quantiles)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Loss function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Negative log-likelihood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Quantile MAE 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Prediction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Single-token, direct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Multi-token, autoregressive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Model sizes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14M / 91M / 311M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11.4M (single variant)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Training data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LOTSA (~27B obs)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New corpus (~295B obs, 36M series)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Attention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Any-variate with binary biases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Causal self-attention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Normalization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Instance norm (non-learnable)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RMS Norm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56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Positional encoding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[Appendix] STU Integration: Technical Details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Flash STU (arXiv:2409.10489)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•  Sequence mixing via FFT convolution with learned spectral filters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•  num_eigh=24 top eigenvalues of Hankel matrix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•  Approx mode: M_inputs[d,d] × M_filters[K,d] (~156K params)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•  Non-approx: M_phi[K,d,d] (~590K params per branch)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•  use_flash_fft=False (flash-fft-conv not installed on cluster)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•  use_attn=True (hybrid mode with flash-attn installed)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Per-Layer Parameter Budget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645920"/>
          <a:ext cx="5029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3556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Params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Self-Attention (H=6, d=384)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589,964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FFN (d_ff=1536)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1,179,648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Layer Norms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768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 per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1,770,380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---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---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Approx STU mixing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156,672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Multi-Head STU (H=6)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181,248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Non-Approx STU (K=2)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589,824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114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Budget Matching Strategy: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107286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•  Approx STU uses 3.8× fewer mixing params than attention → compensate with wider FFN (d_ff=1536)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•  Multi-Head STU (H=6): 181K mixing + d_ff=1379 to match layer budget exactly at 13.83M total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•  Non-Approx STU (K=2): 590K mixing params, matches attention budget exactly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•  Parallel: both STU+Attn per layer, d_ff=888, learned sigmoid gate α: out = α*attn(x) + (1-α)*stu(x)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[Appendix] STU Pretraining: All Runs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72865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8109"/>
                <a:gridCol w="1788109"/>
                <a:gridCol w="1788109"/>
                <a:gridCol w="1788109"/>
                <a:gridCol w="1788109"/>
                <a:gridCol w="1788110"/>
              </a:tblGrid>
              <a:tr h="40005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Params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Final Loss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Speed (it/s)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Epochs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Ckpt Size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Baseline MOIRAI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13.83M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2.400 / 2.380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2.16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159M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Approx STU Hybrid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12.53M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2.380 / 2.361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0.59 / 0.96*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144M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STU-Only Sandwich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14.29M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2.650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164M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Hybrid Sandwich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15.65M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2.370 / 2.350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180M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Multi-Head STU (H=6)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13.83M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2.534 (ep 744)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~0.55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744/1000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Non-Approx STU (K=2)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13.83M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2.372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~0.50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1000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Parallel STU+Attn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13.83M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2.488 (ep 842)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~0.45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842/1000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5720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* STU Fast = batched forward implementation, 1.6× speedup over original</a:t>
            </a:r>
          </a:p>
        </p:txBody>
      </p:sp>
      <p:pic>
        <p:nvPicPr>
          <p:cNvPr id="6" name="Picture 5" descr="training_loss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846320"/>
            <a:ext cx="5029200" cy="2933700"/>
          </a:xfrm>
          <a:prstGeom prst="rect">
            <a:avLst/>
          </a:prstGeom>
        </p:spPr>
      </p:pic>
      <p:pic>
        <p:nvPicPr>
          <p:cNvPr id="7" name="Picture 6" descr="training_loss_zoo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4846320"/>
            <a:ext cx="5029200" cy="29337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[Appendix] Preconditioning: Mathematical Details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Time-Domain FIR Filter (Causal)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B4D8"/>
                </a:solidFill>
                <a:latin typeface="Consolas"/>
              </a:defRPr>
            </a:pPr>
            <a:r>
              <a:t>z(t) = y(t) + c₁·y(t-s) + c₂·y(t-2s) + ... + c_d·y(t-ds)</a:t>
            </a:r>
            <a:br/>
            <a:r>
              <a:t>where c_i = monic polynomial coefficients, s = stride, d = degree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Chebyshev Coefficients (monic):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926080"/>
          <a:ext cx="5029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Degree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Coefficients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 Non-zero taps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[0.0]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 (identity)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[0, -0.5]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[0, -0.75, 0]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[0, -1.0, 0, +0.125]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[0, -1.25, 0, +0.3125, 0]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[0, -1.5, 0, +0.5625, 0, -0.031]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[0, -1.75, 0, +0.875, 0, -0.109, 0]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2468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FIR Inverse Filter (Learned):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9260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•  64-tap learnable filter (nn.Parameter)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•  Trained via auxiliary MSE loss: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    L_inv = ||sum(alpha_i * z(t-i)) - sum(c_i * y(t-i))||²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•  Weight: lambda_inv = 0.1 (total = L_quant + 0.1 * L_inv)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•  Applied per-timepoint before patch formation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•  d=1 control: zero FIR inverse loss (nothing to invert)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Loss Reversal (alternative, not used in main exps):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•  Analytically undo precond on predictions before loss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•  Mutually exclusive with FIR inverse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[Appendix] Error Dynamics &amp; Lyapunov Theory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Prediction reversal:  y_hat(t+h) = -sum(c_i * y_hat(t+h-i)) + z_hat(t+h)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Ground truth:         y(t+h) = -sum(c_i * y(t+h-i)) + z(t+h)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Error evolution:  e_{h+1} = -sum(c_i * e_{h+1-i}) + ε_{h+1}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Companion matrix M = [[-c1, -c2, ..., -cn], [1, 0, ..., 0], ..., [0, ..., 1, 0]]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State vector x_h = [e_h, e_{h-1}, ..., e_{h-n+1}]^T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x_{h+1} = M * x_h + B * ε_{h+1}   where B = [1, 0, ..., 0]^T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For horizon H:  x_H = M^H * x_0 + sum_{i=0}^{H} M^{H-i} * B * ε_i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Var(e_H) = sigma^2 * sum_{i=0}^{H} beta_{H-i}^2   where beta_i = B^T * M^i * B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Infinite horizon: minimize sum beta_i^2 = B^T * P * B   where P solves M^T*P*M - P = -Q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(Discrete Lyapunov equation. Converges iff spectral radius rho(M) &lt; 1.)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Regularized optimization:  min_c ( max_{|z|&lt;=1} |p(z)| + lambda * P_{0,0} 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First term: spectral flatness (Chebyshev criterion). Second term: noise gain (stability).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[Appendix] Moirai 1.0: Full Preconditioning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Monash Benchmark, 29 datasets. MAE[0.5] ratio vs baseline (&lt; 1.0 = better).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33762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d=2 GT rev.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d=2 model rev.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d=5 GT rev.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d=5 model rev.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M1 Monthly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1.02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1.22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M3 Monthly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M3 Other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2.23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7.38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M4 Monthly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M4 Weekly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1.39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3.53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M4 Daily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M4 Hourly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1.15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2.09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Tourism Qtr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FRED-MD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1.43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4.63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Saugeen River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COVID Deaths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1.44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0.16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2.45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3763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GEO MEAN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74C3C"/>
                </a:solidFill>
                <a:latin typeface="Calibri"/>
              </a:defRPr>
            </a:pPr>
            <a:r>
              <a:t>GT reversal shows huge gains (0.71× MAE). Model-forecast reversal: catastrophic for d&gt;=2. Error ∝ degree.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[Appendix] Patch (Embedding) Preconditioning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B4D8"/>
                </a:solidFill>
                <a:latin typeface="Consolas"/>
              </a:defRPr>
            </a:pPr>
            <a:r>
              <a:t>Pipeline: Raw series → in_proj → Chebyshev filter → Transformer → out_proj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•  Train loss improves with degree up to d=5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•  Eval loss improves up to d=4, but still worse than baseline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•  Root cause: transformer + out_proj must learn both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time series mechanics AND filter reversal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•  Too much burden on same parameters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Eval GeoMean MAE Ratio (vs d=1 baseline):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2286000"/>
          <a:ext cx="50292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005840"/>
                <a:gridCol w="1005840"/>
                <a:gridCol w="1005840"/>
                <a:gridCol w="10058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Degree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d=2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d=3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d=4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d=5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Ratio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1.13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1.10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1.05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1.14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32004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Training vs Eval Divergence: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onsolas"/>
              </a:defRPr>
            </a:pPr>
            <a:r>
              <a:t>Training (LOTSA):  precond_context_LOTSA → attention_patterns_LOTSA → param_proj → good predictions</a:t>
            </a:r>
            <a:br/>
            <a:r>
              <a:t>Eval (Monash):     precond_context_Monash → attention_patterns_??? → param_proj → bad predictions</a:t>
            </a:r>
            <a:br/>
            <a:r>
              <a:t>param_proj learns LOTSA-specific preconditioned mapping that doesn't transfer to new domains.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[Appendix] EXP-1 Training Configuration &amp; Loss Decomposition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Common Configuration: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4572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Training steps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100K (1000 ep × 100 batches)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Batch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Learning rate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1e-3 (cosine annealing)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Warmup steps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bf16-mixed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LOTSA v1 (27 datasets)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FIR inverse length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64 taps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FIR inverse 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Anomaly z-score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NVIDIA H200, 30h limit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Final Loss Decomposition (avg last 200 steps):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0" y="1645920"/>
          <a:ext cx="5486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3556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Run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Quantile Loss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FIR Inv Loss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Loss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0.841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0.841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d=1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d=2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0.101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0.082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0.110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d=3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0.101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0.186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0.119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d=4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0.108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0.304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0.138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d=5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0.164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d=6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0.137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0.629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d=7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1.065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0" y="50292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39C12"/>
                </a:solidFill>
                <a:latin typeface="Calibri"/>
              </a:defRPr>
            </a:pPr>
            <a:r>
              <a:t>Key: Baseline quantile loss (0.841) is not comparable to</a:t>
            </a:r>
            <a:br/>
            <a:r>
              <a:t>precond runs (0.101–0.159) because they operate in</a:t>
            </a:r>
            <a:br/>
            <a:r>
              <a:t>different spaces. Anomaly rejection (zscore=8.0) explains</a:t>
            </a:r>
            <a:br/>
            <a:r>
              <a:t>most of the gap.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[Appendix] Confound: Anomaly Rejection Threshold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74C3C"/>
                </a:solidFill>
                <a:latin typeface="Calibri"/>
              </a:defRPr>
            </a:pPr>
            <a:r>
              <a:t>Original baseline (job 4583433) used anomaly_zscore_threshold=0.0 (disabled).</a:t>
            </a:r>
            <a:br/>
            <a:r>
              <a:t>All precond runs used anomaly_zscore_threshold=8.0 (rejects samples with |z| &gt; 8).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•  Anomaly rejection rate: ~23-24% of training samples rejected (outlier LOTSA datasets)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•  Without rejection: massive loss spikes from extreme values (e.g., financial data with 1000× outliers)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•  d=1 (identity filter + zscore=8.0) vs baseline (no filter + no rejection): the entire gap is anomaly rejection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•  This was discovered when d=1 (which applies no filtering!) outperformed the baseline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Fix: resubmitted baseline with zscore=8.0 (job 4611086, running now).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RULE: All future runs MUST include model.anomaly_zscore_threshold=8.0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[Appendix] EXP-1b: Regularization Sweep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B4D8"/>
                </a:solidFill>
                <a:latin typeface="Consolas"/>
              </a:defRPr>
            </a:pPr>
            <a:r>
              <a:t>CVXPY optimization: min_c ( max_{|z|≤1} |p(z)| + λ * ||c||² )</a:t>
            </a:r>
            <a:br/>
            <a:r>
              <a:t>where p(x) = x⁴ + c₁x³ + c₂x² + c₃x + c₄ (monic degree 4)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011680"/>
          <a:ext cx="107286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2072"/>
                <a:gridCol w="1192072"/>
                <a:gridCol w="1192072"/>
                <a:gridCol w="1192072"/>
                <a:gridCol w="1192072"/>
                <a:gridCol w="1192072"/>
                <a:gridCol w="1192072"/>
                <a:gridCol w="1192072"/>
                <a:gridCol w="1192079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λ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c1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c2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c3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c4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max|c|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||c||_2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max|p(z)|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Noise Gain (est.)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 (Cheb)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-1.000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+0.125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1.008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0.063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~12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-0.706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-0.085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~0.15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-0.507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-0.214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0.507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0.551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~0.20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-0.377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-0.294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~0.25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-0.250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-0.250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0.250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0.354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~0.28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-0.167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-0.167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0.167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~0.30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~1.7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-0.050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-0.050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0.050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0.071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~0.35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~1.1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12064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•  λ=0–0.1: No effect (Chebyshev already near-optimal for combined objective)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•  λ=0.25: First meaningful shift — c4 flips sign from +0.125 to -0.085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•  λ=2.0: Both non-zero coefficients become equal (-0.25, -0.25)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•  λ=10.0: Near-identity filter (coefficients ~0.05)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•  Custom 4-tap [0, -0.118, 0, -0.136] is closest to λ≈3 regime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[Appendix] Planned: Learnable Coefficients (EXP-6)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Code implemented. Awaiting EXP-1/1b results to determine best degree d* before launching.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Implementation: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•  time_precondition_learnable=True: registers coefficients as nn.Parameter (not buffer)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•  L2 regularization via time_precondition_coeffs_lambda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•  Logged metrics: train/precond_coeffs_norm, train/precond_coeffs_l2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•  Config: model.module_kwargs.time_precondition_learnable=true + model.time_precondition_coeffs_lambda=0.01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Planned Sub-experiments: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4114800"/>
          <a:ext cx="1072865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Runs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Question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6a: Learnable vs Fixed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Does end-to-end learning beat fixed polynomials?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6b: Init Sensitivity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Chebyshev init vs zero vs random vs simpler poly?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6c: Degree × Learnable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Can 2 learned taps beat fixed d*? Does d=16 help?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6d: Without FIR Inverse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 learnable coeffs make FIR inverse unnecessary?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612648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99999"/>
                </a:solidFill>
                <a:latin typeface="Calibri"/>
              </a:defRPr>
            </a:pPr>
            <a:r>
              <a:t>Total: ~12 new runs, ~9 GPU-days. Priority: 6a &gt; 6d &gt; 6b &gt; 6c.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[Appendix] GIFT-Eval Benchmark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97 dataset configurations total: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•  39 unique datasets × multiple freq/horizon combos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•  Cloud/Web: bitbrains, bizitobs (20 configs)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•  Sales: car_parts, hierarchical, restaurant (4)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•  Health: covid_deaths, hospital (2)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•  Energy: electricity, ETT1/2, solar (24)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•  Weather: jena, kdd_cup, temp_rain (12)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•  Nature: saugeen, us_births (6)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•  Transport: LOOP_SEATTLE, SZ_TAXI (11)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•  M-competitions: m4_daily/hourly/monthly/qtr/wk/yr (6)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•  Dense matrix: M_DENSE (4)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•  Horizons: short, medium, 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Leaderboard Methodology: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1. Per-config ranking: rank models 1-N by MASE[0.5]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2. MASE_Rank = arithmetic mean of per-config ranks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3. Geo Mean MASE = geometric mean across configs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4. Normalized MASE = model_MASE / naive_MASE per config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Interpretation: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•  MASE &lt; 1.0 = beats seasonal naive baseline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•  Normalized MASE &lt; 1.0 = better than naive on that config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•  Geo mean is scale-invariant (preferred for aggregation)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Eval Settings: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4846320"/>
          <a:ext cx="5029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304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Setting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Context length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Patch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32 (non-quarterly) / 8 (quarterly)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Batch size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Num samples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100 (probabilistic)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Device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NVIDIA H200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[Appendix] Complete Job Log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72865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Job ID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Config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4611086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m2_baseline_fixed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Pretrain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RUNNING (ep 388)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Moirai2, zscore=8.0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4610803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m2_custom_4tap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RUNNING (ep 384)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[0,-0.118,0,-0.136]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4611080-85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m2_d4_lam*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Pretrain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RUNNING (~35%)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EXP-1b sweep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4558185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multihead_stu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RUNNING (ep 744)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H=6, d_ff=1379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4558187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parallel_stu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Pretrain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RUNNING (ep 842)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gate*attn+(1-g)*stu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4620192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gifteval_nonapprox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RUNNING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Non-approx STU ep 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4558186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nonapprox_stu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Pretrain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K=2, full M_phi, ep 999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4583434-40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m2_precond d=1-7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EXP-1 degree sweep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4583433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m2_baseline_orig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Pretrain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CONFOUNDED (no zscore)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